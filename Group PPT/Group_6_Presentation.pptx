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paut03l/ts_02_safevault-reentrancy-demo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8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89720" y="123444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0" i="0">
                <a:solidFill>
                  <a:srgbClr val="16213E"/>
                </a:solidFill>
                <a:latin typeface="Segoe UI Emoji"/>
              </a:rPr>
              <a:t>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spc="300">
                <a:solidFill>
                  <a:srgbClr val="B07800"/>
                </a:solidFill>
                <a:latin typeface="Segoe UI Emoji"/>
              </a:rPr>
              <a:t>🎬  A REENTRANCY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000" b="0" i="0">
                <a:solidFill>
                  <a:srgbClr val="16213E"/>
                </a:solidFill>
                <a:latin typeface="Segoe UI Black"/>
              </a:rPr>
              <a:t>The Vault
</a:t>
            </a:r>
            <a:r>
              <a:rPr sz="7000" b="0" i="0">
                <a:solidFill>
                  <a:srgbClr val="B07800"/>
                </a:solidFill>
                <a:latin typeface="Segoe UI Black"/>
              </a:rPr>
              <a:t>That Paid Twice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556174"/>
                </a:solidFill>
                <a:latin typeface="Segoe UI Emoji"/>
              </a:rPr>
              <a:t>How a 1-ETH thief walks out with 11 ETH — without forcing a single lock. 💰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029200"/>
            <a:ext cx="548640" cy="457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👥  GROUP 6   </a:t>
            </a:r>
            <a:r>
              <a:rPr sz="1300" b="0" i="0">
                <a:solidFill>
                  <a:srgbClr val="556174"/>
                </a:solidFill>
                <a:latin typeface="Segoe UI"/>
              </a:rPr>
              <a:t>M.Tech AI · IIT Jodhpur · Trimester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3B2"/>
                </a:solidFill>
                <a:latin typeface="Segoe UI"/>
              </a:rPr>
              <a:t>CSL6010 Cyber Security · Assignment 1 · Prof. Susil Kumar Mohanty · TA: Nidhi Srivastava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3FC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166FC4"/>
                </a:solidFill>
                <a:latin typeface="Segoe UI Semibold"/>
              </a:rPr>
              <a:t>👥  TEAM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GROUP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👥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Meet the Team</a:t>
            </a:r>
          </a:p>
        </p:txBody>
      </p:sp>
      <p:pic>
        <p:nvPicPr>
          <p:cNvPr id="7" name="Picture 6" descr="Rohit_Pa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783080"/>
            <a:ext cx="1188720" cy="1188720"/>
          </a:xfrm>
          <a:prstGeom prst="ellipse">
            <a:avLst/>
          </a:prstGeom>
        </p:spPr>
      </p:pic>
      <p:sp>
        <p:nvSpPr>
          <p:cNvPr id="8" name="Oval 7"/>
          <p:cNvSpPr/>
          <p:nvPr/>
        </p:nvSpPr>
        <p:spPr>
          <a:xfrm>
            <a:off x="1298448" y="1783080"/>
            <a:ext cx="1188720" cy="1188720"/>
          </a:xfrm>
          <a:prstGeom prst="ellipse">
            <a:avLst/>
          </a:prstGeom>
          <a:noFill/>
          <a:ln w="3048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Rohit Patel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747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6FC4"/>
                </a:solidFill>
                <a:latin typeface="Consolas"/>
              </a:rPr>
              <a:t>G25AIT2089</a:t>
            </a:r>
          </a:p>
        </p:txBody>
      </p:sp>
      <p:pic>
        <p:nvPicPr>
          <p:cNvPr id="11" name="Picture 10" descr="Sharvan_Vitta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783080"/>
            <a:ext cx="1188720" cy="1188720"/>
          </a:xfrm>
          <a:prstGeom prst="ellipse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977640" y="1783080"/>
            <a:ext cx="1188720" cy="1188720"/>
          </a:xfrm>
          <a:prstGeom prst="ellipse">
            <a:avLst/>
          </a:prstGeom>
          <a:noFill/>
          <a:ln w="3048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Sharvan Vittala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4747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B07800"/>
                </a:solidFill>
                <a:latin typeface="Consolas"/>
              </a:rPr>
              <a:t>G25AIT2099</a:t>
            </a:r>
          </a:p>
        </p:txBody>
      </p:sp>
      <p:pic>
        <p:nvPicPr>
          <p:cNvPr id="15" name="Picture 14" descr="Sudeb_Gho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783080"/>
            <a:ext cx="1188720" cy="1188720"/>
          </a:xfrm>
          <a:prstGeom prst="ellipse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656832" y="1783080"/>
            <a:ext cx="1188720" cy="1188720"/>
          </a:xfrm>
          <a:prstGeom prst="ellipse">
            <a:avLst/>
          </a:prstGeom>
          <a:noFill/>
          <a:ln w="304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25312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Sudeb Ghosh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34747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02B3A"/>
                </a:solidFill>
                <a:latin typeface="Consolas"/>
              </a:rPr>
              <a:t>G25AIT2113</a:t>
            </a:r>
          </a:p>
        </p:txBody>
      </p:sp>
      <p:pic>
        <p:nvPicPr>
          <p:cNvPr id="19" name="Picture 18" descr="Kosuru_Yuvaraj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1783080"/>
            <a:ext cx="1188720" cy="1188720"/>
          </a:xfrm>
          <a:prstGeom prst="ellipse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336024" y="1783080"/>
            <a:ext cx="1188720" cy="1188720"/>
          </a:xfrm>
          <a:prstGeom prst="ellipse">
            <a:avLst/>
          </a:prstGeom>
          <a:noFill/>
          <a:ln w="3048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04504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Kosuru Yuvaraj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347472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F9A5F"/>
                </a:solidFill>
                <a:latin typeface="Consolas"/>
              </a:rPr>
              <a:t>G25AIT2054</a:t>
            </a:r>
          </a:p>
        </p:txBody>
      </p:sp>
      <p:pic>
        <p:nvPicPr>
          <p:cNvPr id="23" name="Picture 22" descr="Pujan_Chakrabort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3931920"/>
            <a:ext cx="1188720" cy="1188720"/>
          </a:xfrm>
          <a:prstGeom prst="ellipse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2807208" y="3931920"/>
            <a:ext cx="1188720" cy="1188720"/>
          </a:xfrm>
          <a:prstGeom prst="ellipse">
            <a:avLst/>
          </a:prstGeom>
          <a:noFill/>
          <a:ln w="3048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75688" y="5257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Pujan Chakraborty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56235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6FC4"/>
                </a:solidFill>
                <a:latin typeface="Consolas"/>
              </a:rPr>
              <a:t>G25AIT2076</a:t>
            </a:r>
          </a:p>
        </p:txBody>
      </p:sp>
      <p:pic>
        <p:nvPicPr>
          <p:cNvPr id="27" name="Picture 26" descr="Amit_Sing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931920"/>
            <a:ext cx="1188720" cy="1188720"/>
          </a:xfrm>
          <a:prstGeom prst="ellipse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5486400" y="3931920"/>
            <a:ext cx="1188720" cy="1188720"/>
          </a:xfrm>
          <a:prstGeom prst="ellipse">
            <a:avLst/>
          </a:prstGeom>
          <a:noFill/>
          <a:ln w="3048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0" y="5257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Amit Singh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6235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B07800"/>
                </a:solidFill>
                <a:latin typeface="Consolas"/>
              </a:rPr>
              <a:t>G25AIT2007</a:t>
            </a:r>
          </a:p>
        </p:txBody>
      </p:sp>
      <p:pic>
        <p:nvPicPr>
          <p:cNvPr id="31" name="Picture 30" descr="Vishnu_Priy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3931920"/>
            <a:ext cx="1188720" cy="1188720"/>
          </a:xfrm>
          <a:prstGeom prst="ellipse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165592" y="3931920"/>
            <a:ext cx="1188720" cy="1188720"/>
          </a:xfrm>
          <a:prstGeom prst="ellipse">
            <a:avLst/>
          </a:prstGeom>
          <a:noFill/>
          <a:ln w="304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34072" y="5257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Vishnu Priya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56235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02B3A"/>
                </a:solidFill>
                <a:latin typeface="Consolas"/>
              </a:rPr>
              <a:t>G25AIT2128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B07800"/>
                </a:solidFill>
                <a:latin typeface="Segoe UI Semibold"/>
              </a:rPr>
              <a:t>🗺️  ROADMAP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STORY IN 6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🗺️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The Story in 6 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109728" cy="114300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46888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1 · 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90779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a bank teller, two simple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8600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286000"/>
            <a:ext cx="109728" cy="114300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28600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46888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2 · The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90779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the fatal pause between cash &amp; 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1188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3611880"/>
            <a:ext cx="109728" cy="114300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61188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7947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3 · The Heist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3367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re-enter, loop, and drain the 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61188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611880"/>
            <a:ext cx="109728" cy="1143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61188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79476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4 · The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23367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the code, line by 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93776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4937760"/>
            <a:ext cx="109728" cy="114300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493776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1206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5 · The Damage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55955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DAO, Curve &amp; the business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937760"/>
            <a:ext cx="5257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4937760"/>
            <a:ext cx="109728" cy="1143000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4937760"/>
            <a:ext cx="10058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16213E"/>
                </a:solidFill>
                <a:latin typeface="Segoe UI Emoji"/>
              </a:rPr>
              <a:t>🛡️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512064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13E"/>
                </a:solidFill>
                <a:latin typeface="Segoe UI Semibold"/>
              </a:rPr>
              <a:t>ACT 6 · The Defense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559552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CEI + guard, demo &amp; roles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3FC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166FC4"/>
                </a:solidFill>
                <a:latin typeface="Segoe UI Semibold"/>
              </a:rPr>
              <a:t>🧱  FOUNDATIONS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60-SECOND CRASH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🧱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First — four things to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525780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240280"/>
            <a:ext cx="109728" cy="1664208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423160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⛓️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4414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Blockchain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8986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A shared digital ledger copied across thousands of computers. Once written, data can't be secretly changed — and no single person owns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25780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240280"/>
            <a:ext cx="109728" cy="1664208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7688" y="2423160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4144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Smart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8986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A self-running program that lives on the blockchain. It holds ETH and runs exactly as written — no human can stop it mid-way. “Code is law.”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87368"/>
            <a:ext cx="525780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4087368"/>
            <a:ext cx="109728" cy="1664208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1288" y="4270248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28853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MetaMask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745736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A crypto wallet inside your browser. It stores your keys and signs transactions — think of it as your login + signature to talk to contracts.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087368"/>
            <a:ext cx="525780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4087368"/>
            <a:ext cx="109728" cy="1664208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4270248"/>
            <a:ext cx="868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28853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ETH &amp; 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745736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Ether (ETH) is Ethereum's money. Your wallet address (0xA11CE…) holds it. Both people AND contracts have addresses and can hold ETH.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13E"/>
                </a:solidFill>
                <a:latin typeface="Segoe UI"/>
              </a:rPr>
              <a:t>In our demo: </a:t>
            </a:r>
            <a:r>
              <a:rPr sz="1300" b="0" i="0">
                <a:solidFill>
                  <a:srgbClr val="556174"/>
                </a:solidFill>
                <a:latin typeface="Segoe UI Emoji"/>
              </a:rPr>
              <a:t>MetaMask sends a transaction to a Smart Contract (the vault) on a local blockchain. 🦊→📜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3FC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166FC4"/>
                </a:solidFill>
                <a:latin typeface="Segoe UI Semibold"/>
              </a:rPr>
              <a:t>🏦  ACT 1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🏦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Picture a bank teller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Every withdrawal is two steps — and the order is everything.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1460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16213E"/>
                </a:solidFill>
                <a:latin typeface="Segoe UI Emoji"/>
              </a:rPr>
              <a:t>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0779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166FC4"/>
                </a:solidFill>
                <a:latin typeface="Segoe UI Semibold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213E"/>
                </a:solidFill>
                <a:latin typeface="Segoe UI Semibold"/>
              </a:rPr>
              <a:t>Hand over cash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56174"/>
                </a:solidFill>
                <a:latin typeface="Segoe UI Emoji"/>
              </a:rPr>
              <a:t>The teller gives you the money first. 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16213E"/>
                </a:solidFill>
                <a:latin typeface="Segoe UI Emoji"/>
              </a:rPr>
              <a:t>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90779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B07800"/>
                </a:solidFill>
                <a:latin typeface="Segoe UI Semibold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291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213E"/>
                </a:solidFill>
                <a:latin typeface="Segoe UI Semibold"/>
              </a:rPr>
              <a:t>Write the passbook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6908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56174"/>
                </a:solidFill>
                <a:latin typeface="Segoe UI Emoji"/>
              </a:rPr>
              <a:t>Then records it so it can't be taken again. ✍️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15000" y="3703320"/>
            <a:ext cx="457200" cy="457200"/>
          </a:xfrm>
          <a:prstGeom prst="rightArrow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8680" y="5440680"/>
            <a:ext cx="10424160" cy="502920"/>
          </a:xfrm>
          <a:prstGeom prst="roundRect">
            <a:avLst>
              <a:gd name="adj" fmla="val 30000"/>
            </a:avLst>
          </a:prstGeom>
          <a:solidFill>
            <a:srgbClr val="FDEFF0"/>
          </a:solidFill>
          <a:ln w="1524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213E"/>
                </a:solidFill>
                <a:latin typeface="Segoe UI Emoji"/>
              </a:rPr>
              <a:t>⚠️  The bug is simply doing these </a:t>
            </a:r>
            <a:r>
              <a:rPr sz="1600" b="1" i="0">
                <a:solidFill>
                  <a:srgbClr val="E02B3A"/>
                </a:solidFill>
                <a:latin typeface="Segoe UI Semibold"/>
              </a:rPr>
              <a:t>in the wrong order.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F6E6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⏳  ACT 2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⏳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Between the cash and the pen… a pause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For one instant, the cash is gone but the record hasn't caught 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9966960" cy="73152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54480" y="3474720"/>
            <a:ext cx="164592" cy="45720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6FC4"/>
                </a:solidFill>
                <a:latin typeface="Segoe UI Emoji"/>
              </a:rPr>
              <a:t>💵 cash handed 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0" y="3474720"/>
            <a:ext cx="164592" cy="45720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0" y="40233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B07800"/>
                </a:solidFill>
                <a:latin typeface="Segoe UI Emoji"/>
              </a:rPr>
              <a:t>📒 passbook updated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3566160"/>
            <a:ext cx="8686800" cy="256032"/>
          </a:xfrm>
          <a:prstGeom prst="roundRect">
            <a:avLst>
              <a:gd name="adj" fmla="val 50000"/>
            </a:avLst>
          </a:prstGeom>
          <a:noFill/>
          <a:ln w="304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60320" y="2606040"/>
            <a:ext cx="7040880" cy="640080"/>
          </a:xfrm>
          <a:prstGeom prst="roundRect">
            <a:avLst>
              <a:gd name="adj" fmla="val 40000"/>
            </a:avLst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Emoji"/>
              </a:rPr>
              <a:t>🤑  the balance still says you're rich  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92040"/>
            <a:ext cx="9966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6213E"/>
                </a:solidFill>
                <a:latin typeface="Segoe UI"/>
              </a:rPr>
              <a:t>So you ask to withdraw </a:t>
            </a:r>
            <a:r>
              <a:rPr sz="1900" b="1" i="0">
                <a:solidFill>
                  <a:srgbClr val="E02B3A"/>
                </a:solidFill>
                <a:latin typeface="Segoe UI Semibold"/>
              </a:rPr>
              <a:t>again</a:t>
            </a:r>
            <a:r>
              <a:rPr sz="1900" b="0" i="0">
                <a:solidFill>
                  <a:srgbClr val="16213E"/>
                </a:solidFill>
                <a:latin typeface="Segoe UI Emoji"/>
              </a:rPr>
              <a:t> — before the pen ever touches paper. 🏃💨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F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🎯  PROBLEM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WHAT IS A REENTRANCY ATTACK?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6213E"/>
                </a:solidFill>
                <a:latin typeface="Segoe UI Emoji"/>
              </a:rPr>
              <a:t>🎯  </a:t>
            </a:r>
            <a:r>
              <a:rPr sz="4000" b="1" i="0">
                <a:solidFill>
                  <a:srgbClr val="16213E"/>
                </a:solidFill>
                <a:latin typeface="Segoe UI Black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A malicious contract </a:t>
            </a:r>
            <a:r>
              <a:rPr sz="1800" b="1" i="0">
                <a:solidFill>
                  <a:srgbClr val="E02B3A"/>
                </a:solidFill>
                <a:latin typeface="Segoe UI"/>
              </a:rPr>
              <a:t>re-enters a function before the first call finishes</a:t>
            </a:r>
            <a:r>
              <a:rPr sz="1800" b="0" i="0">
                <a:solidFill>
                  <a:srgbClr val="556174"/>
                </a:solidFill>
                <a:latin typeface="Segoe UI Emoji"/>
              </a:rPr>
              <a:t> — draining funds recursively. 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2971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02B3A"/>
                </a:solidFill>
                <a:latin typeface="Segoe UI Emoji"/>
              </a:rPr>
              <a:t>① 📞 call withdraw()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attacker asks for funds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862072"/>
            <a:ext cx="640080" cy="45720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46320" y="2606040"/>
            <a:ext cx="2971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B07800"/>
                </a:solidFill>
                <a:latin typeface="Segoe UI Emoji"/>
              </a:rPr>
              <a:t>② 💸 vault SENDS ETH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before updating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560320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Emoji"/>
              </a:rPr>
              <a:t>↺ 🪤 receive() RE-ENTERS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DDE0"/>
                </a:solidFill>
                <a:latin typeface="Segoe UI"/>
              </a:rPr>
              <a:t>calls ① again — balance still &gt;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14800"/>
            <a:ext cx="1042416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109728" cy="512064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50">
                <a:solidFill>
                  <a:srgbClr val="E02B3A"/>
                </a:solidFill>
                <a:latin typeface="Segoe UI Semibold"/>
              </a:rPr>
              <a:t>RECURSIVE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114800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the function is entered again and again in one transaction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00016"/>
            <a:ext cx="1042416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4700016"/>
            <a:ext cx="109728" cy="512064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700016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⏱️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0016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50">
                <a:solidFill>
                  <a:srgbClr val="B07800"/>
                </a:solidFill>
                <a:latin typeface="Segoe UI Semibold"/>
              </a:rPr>
              <a:t>STATE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700016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balance updates AFTER the external call, never before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285231"/>
            <a:ext cx="1042416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5285231"/>
            <a:ext cx="109728" cy="512064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5285231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85231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50">
                <a:solidFill>
                  <a:srgbClr val="166FC4"/>
                </a:solidFill>
                <a:latin typeface="Segoe UI Semibold"/>
              </a:rPr>
              <a:t>UNGUARDED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285231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sending ETH hands control to untrusted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870447"/>
            <a:ext cx="10424160" cy="51206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5870447"/>
            <a:ext cx="109728" cy="51206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5870447"/>
            <a:ext cx="548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7044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50">
                <a:solidFill>
                  <a:srgbClr val="16213E"/>
                </a:solidFill>
                <a:latin typeface="Segoe UI Semibold"/>
              </a:rPr>
              <a:t>MOST FAMOUS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870447"/>
            <a:ext cx="6949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The DAO Hack, 2016 — ~$60M drained in minutes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B07800"/>
                </a:solidFill>
                <a:latin typeface="Segoe UI Semibold"/>
              </a:rPr>
              <a:t>🧩  FOUNDATIONS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TWO ENABLERS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🧩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Two features make it all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On Ethereum, sending money can secretly hand over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377440"/>
            <a:ext cx="5074920" cy="320040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2032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57860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07800"/>
                </a:solidFill>
                <a:latin typeface="Segoe UI Emoji"/>
              </a:rPr>
              <a:t>📤  1 · External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154680"/>
            <a:ext cx="4526280" cy="502920"/>
          </a:xfrm>
          <a:prstGeom prst="roundRect">
            <a:avLst>
              <a:gd name="adj" fmla="val 12000"/>
            </a:avLst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32461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B7F0"/>
                </a:solidFill>
                <a:latin typeface="Consolas"/>
              </a:rPr>
              <a:t>msg.sender.call{value: bal}("")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4048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56174"/>
                </a:solidFill>
                <a:latin typeface="Segoe UI"/>
              </a:rPr>
              <a:t>How a contract SENDS ETH to an address.
</a:t>
            </a:r>
            <a:r>
              <a:rPr sz="1500" b="0" i="0">
                <a:solidFill>
                  <a:srgbClr val="16213E"/>
                </a:solidFill>
                <a:latin typeface="Segoe UI Emoji"/>
              </a:rPr>
              <a:t>If the receiver is a contract, its code runs automatically — “sending money” quietly “hands over control.” 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774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DEFF0"/>
          </a:solidFill>
          <a:ln w="2032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57860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02B3A"/>
                </a:solidFill>
                <a:latin typeface="Segoe UI Emoji"/>
              </a:rPr>
              <a:t>🪤  2 · Fallback / receive()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154680"/>
            <a:ext cx="4480560" cy="502920"/>
          </a:xfrm>
          <a:prstGeom prst="roundRect">
            <a:avLst>
              <a:gd name="adj" fmla="val 12000"/>
            </a:avLst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32461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FB7F0"/>
                </a:solidFill>
                <a:latin typeface="Consolas"/>
              </a:rPr>
              <a:t>receive() external payable { ...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556174"/>
                </a:solidFill>
                <a:latin typeface="Segoe UI"/>
              </a:rPr>
              <a:t>Runs AUTOMATICALLY the instant ETH lands — you never call it on purpose.
</a:t>
            </a:r>
            <a:r>
              <a:rPr sz="1500" b="0" i="0">
                <a:solidFill>
                  <a:srgbClr val="16213E"/>
                </a:solidFill>
                <a:latin typeface="Segoe UI Emoji"/>
              </a:rPr>
              <a:t>The attacker hides the loop HERE: when the vault pays, receive() instantly calls withdraw() again. 🔁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3FC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🔁  THE VULNERABILITY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WORD BY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13E"/>
                </a:solidFill>
                <a:latin typeface="Segoe UI Black"/>
              </a:rPr>
              <a:t>"Reentrancy" = entering again before the first call finishes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02B3A"/>
                </a:solidFill>
                <a:latin typeface="Segoe UI Emoji"/>
              </a:rPr>
              <a:t>🔁  RE-ENTRANCY  </a:t>
            </a:r>
            <a:r>
              <a:rPr sz="1800" b="0" i="0">
                <a:solidFill>
                  <a:srgbClr val="16213E"/>
                </a:solidFill>
                <a:latin typeface="Segoe UI"/>
              </a:rPr>
              <a:t>=  RE (again)  +  ENTRANCY (entering)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017520"/>
            <a:ext cx="507492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6FC4"/>
                </a:solidFill>
                <a:latin typeface="Segoe UI Emoji"/>
              </a:rPr>
              <a:t>🏦  The bank teller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39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6213E"/>
                </a:solidFill>
                <a:latin typeface="Segoe UI Emoji"/>
              </a:rPr>
              <a:t>•  Teller hands you cash FIRST 💵
•  …then turns to update the passbook 📒
•  You ask to withdraw again first 🙋
•  Passbook still shows full balance → pays again 💸
</a:t>
            </a:r>
            <a:r>
              <a:rPr sz="1400" b="1" i="0">
                <a:solidFill>
                  <a:srgbClr val="E02B3A"/>
                </a:solidFill>
                <a:latin typeface="Segoe UI Emoji"/>
              </a:rPr>
              <a:t>•  Repeat until the drawer is empty 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17520"/>
            <a:ext cx="502920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200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02B3A"/>
                </a:solidFill>
                <a:latin typeface="Segoe UI Emoji"/>
              </a:rPr>
              <a:t>⛓️  The contract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49039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16213E"/>
                </a:solidFill>
                <a:latin typeface="Segoe UI"/>
              </a:rPr>
              <a:t>•  Vault SENDS ETH before zeroing balance
</a:t>
            </a:r>
            <a:r>
              <a:rPr sz="1400" b="0" i="0">
                <a:solidFill>
                  <a:srgbClr val="16213E"/>
                </a:solidFill>
                <a:latin typeface="Segoe UI Emoji"/>
              </a:rPr>
              <a:t>•  Sending ETH auto-fires attacker receive() 🪤
•  receive() calls withdraw() again 🔁
•  balance = 0 hasn't run, so the check passes ✅
</a:t>
            </a:r>
            <a:r>
              <a:rPr sz="1400" b="1" i="0">
                <a:solidFill>
                  <a:srgbClr val="E02B3A"/>
                </a:solidFill>
                <a:latin typeface="Segoe UI Emoji"/>
              </a:rPr>
              <a:t>•  Loop drains the vault in ONE transaction 💀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⚙️  ROOT CAUSE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WRONG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⚙️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Root cause: the wrong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Every withdraw does 3 things — the only question is the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286000"/>
            <a:ext cx="109728" cy="54864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">
                <a:solidFill>
                  <a:srgbClr val="166FC4"/>
                </a:solidFill>
                <a:latin typeface="Segoe UI Semibold"/>
              </a:rP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Is the request valid?   require(bal &gt;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2608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2926080"/>
            <a:ext cx="109728" cy="548640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9260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">
                <a:solidFill>
                  <a:srgbClr val="0F9A5F"/>
                </a:solidFill>
                <a:latin typeface="Segoe UI Semibold"/>
              </a:rPr>
              <a:t>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Update internal state.   balances[user] =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6616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566160"/>
            <a:ext cx="109728" cy="54864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661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">
                <a:solidFill>
                  <a:srgbClr val="B07800"/>
                </a:solidFill>
                <a:latin typeface="Segoe UI Semibold"/>
              </a:rPr>
              <a:t>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6616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Talk to the outside world.   send ETH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434840"/>
            <a:ext cx="5074920" cy="1463040"/>
          </a:xfrm>
          <a:prstGeom prst="roundRect">
            <a:avLst>
              <a:gd name="adj" fmla="val 6000"/>
            </a:avLst>
          </a:prstGeom>
          <a:solidFill>
            <a:srgbClr val="FDEFF0"/>
          </a:solidFill>
          <a:ln w="2032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572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2B3A"/>
                </a:solidFill>
                <a:latin typeface="Segoe UI Emoji"/>
              </a:rPr>
              <a:t>❌  VULNERABLE  ·  C → I →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0292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6213E"/>
                </a:solidFill>
                <a:latin typeface="Segoe UI"/>
              </a:rPr>
              <a:t>Sends ETH (Interaction) BEFORE zeroing the balance (Effect). The gap is the bug.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ECF7F0"/>
          </a:solidFill>
          <a:ln w="2032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572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9A5F"/>
                </a:solidFill>
                <a:latin typeface="Segoe UI Emoji"/>
              </a:rPr>
              <a:t>✅  SAFE (CEI)  ·  C → E → 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292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6213E"/>
                </a:solidFill>
                <a:latin typeface="Segoe UI Emoji"/>
              </a:rPr>
              <a:t>Balance zeroed FIRST. On re-entry, bal = 0 → require fails → revert. 🛡️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F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🚨  ACT 3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HEIST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🚨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The attack, step by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084832"/>
            <a:ext cx="402336" cy="402336"/>
          </a:xfrm>
          <a:prstGeom prst="ellipse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🏦 Honest deposit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Alice &amp; Bob deposit 5 ETH each → vault holds 10 ETH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15184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88336"/>
            <a:ext cx="402336" cy="402336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1518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😈 Attacker deposits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15184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Eve's contract deposits 1 ETH → vault = 11, Eve's balance =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18688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3291840"/>
            <a:ext cx="402336" cy="402336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1868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📞 Eve calls withdraw()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218688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Vault checks balance &gt; 0 → yes (1 ETH) → proceeds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22192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3895344"/>
            <a:ext cx="402336" cy="402336"/>
          </a:xfrm>
          <a:prstGeom prst="ellipse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2219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💸 Vault SENDS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22192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External call sends 1 ETH BEFORE zeroing Eve's balance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425696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5840" y="4498848"/>
            <a:ext cx="402336" cy="402336"/>
          </a:xfrm>
          <a:prstGeom prst="ellipse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25696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🪤 receive() auto-fires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425696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ETH arriving triggers Eve's receive() — control jumps to attacker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029200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" y="5102352"/>
            <a:ext cx="402336" cy="402336"/>
          </a:xfrm>
          <a:prstGeom prst="ellipse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29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🔁 Re-enter withdraw()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02920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Balance STILL 1 ETH → check passes → sends again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632704"/>
            <a:ext cx="1042416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5840" y="5705856"/>
            <a:ext cx="402336" cy="402336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Black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63270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Emoji"/>
              </a:rPr>
              <a:t>🫙 Loop until empty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5632704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Repeat 4–6. Vault → 0; Eve's contract now holds 11 ETH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F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💸  THE DRAIN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ONE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💸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Watch the vault empty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Same balance, asked again and again, until nothing's left.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95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🏦</a:t>
            </a:r>
          </a:p>
          <a:p>
            <a:pPr algn="ctr">
              <a:lnSpc>
                <a:spcPct val="95000"/>
              </a:lnSpc>
            </a:pPr>
            <a:r>
              <a:rPr sz="4000" b="1" i="0">
                <a:solidFill>
                  <a:srgbClr val="B07800"/>
                </a:solidFill>
                <a:latin typeface="Segoe UI Black"/>
              </a:rPr>
              <a:t>10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56174"/>
                </a:solidFill>
                <a:latin typeface="Segoe UI"/>
              </a:rPr>
              <a:t>ETH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3364992"/>
            <a:ext cx="457200" cy="384048"/>
          </a:xfrm>
          <a:prstGeom prst="rightArrow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2743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95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🏦</a:t>
            </a:r>
          </a:p>
          <a:p>
            <a:pPr algn="ctr">
              <a:lnSpc>
                <a:spcPct val="95000"/>
              </a:lnSpc>
            </a:pPr>
            <a:r>
              <a:rPr sz="4000" b="1" i="0">
                <a:solidFill>
                  <a:srgbClr val="B07800"/>
                </a:solidFill>
                <a:latin typeface="Segoe UI Black"/>
              </a:rPr>
              <a:t>7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56174"/>
                </a:solidFill>
                <a:latin typeface="Segoe UI"/>
              </a:rPr>
              <a:t>ETH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53712" y="3364992"/>
            <a:ext cx="457200" cy="384048"/>
          </a:xfrm>
          <a:prstGeom prst="rightArrow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2743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C8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95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🏦</a:t>
            </a:r>
          </a:p>
          <a:p>
            <a:pPr algn="ctr">
              <a:lnSpc>
                <a:spcPct val="95000"/>
              </a:lnSpc>
            </a:pPr>
            <a:r>
              <a:rPr sz="4000" b="1" i="0">
                <a:solidFill>
                  <a:srgbClr val="C87A12"/>
                </a:solidFill>
                <a:latin typeface="Segoe UI Black"/>
              </a:rPr>
              <a:t>4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56174"/>
                </a:solidFill>
                <a:latin typeface="Segoe UI"/>
              </a:rPr>
              <a:t>ETH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11112" y="3364992"/>
            <a:ext cx="457200" cy="384048"/>
          </a:xfrm>
          <a:prstGeom prst="rightArrow">
            <a:avLst/>
          </a:prstGeom>
          <a:solidFill>
            <a:srgbClr val="C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0" y="2743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95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🏦</a:t>
            </a:r>
          </a:p>
          <a:p>
            <a:pPr algn="ctr">
              <a:lnSpc>
                <a:spcPct val="95000"/>
              </a:lnSpc>
            </a:pPr>
            <a:r>
              <a:rPr sz="4000" b="1" i="0">
                <a:solidFill>
                  <a:srgbClr val="E02B3A"/>
                </a:solidFill>
                <a:latin typeface="Segoe UI Black"/>
              </a:rPr>
              <a:t>1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56174"/>
                </a:solidFill>
                <a:latin typeface="Segoe UI"/>
              </a:rPr>
              <a:t>ETH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68512" y="3364992"/>
            <a:ext cx="457200" cy="384048"/>
          </a:xfrm>
          <a:prstGeom prst="rightArrow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274320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95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🏦</a:t>
            </a:r>
          </a:p>
          <a:p>
            <a:pPr algn="ctr">
              <a:lnSpc>
                <a:spcPct val="95000"/>
              </a:lnSpc>
            </a:pPr>
            <a:r>
              <a:rPr sz="4000" b="1" i="0">
                <a:solidFill>
                  <a:srgbClr val="E02B3A"/>
                </a:solidFill>
                <a:latin typeface="Segoe UI Black"/>
              </a:rPr>
              <a:t>0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56174"/>
                </a:solidFill>
                <a:latin typeface="Segoe UI"/>
              </a:rPr>
              <a:t>ETH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0424160" cy="960120"/>
          </a:xfrm>
          <a:prstGeom prst="roundRect">
            <a:avLst>
              <a:gd name="adj" fmla="val 8000"/>
            </a:avLst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Segoe UI Emoji"/>
              </a:rPr>
              <a:t>Eve deposited 1 ETH 🪙</a:t>
            </a:r>
            <a:r>
              <a:rPr sz="2600" b="1" i="0">
                <a:solidFill>
                  <a:srgbClr val="FFFFFF"/>
                </a:solidFill>
                <a:latin typeface="Segoe UI Emoji"/>
              </a:rPr>
              <a:t>   →   walked away with 11 ETH 💰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🔄  UNDER THE HOOD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THE RECURSIVE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🔄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What the recursive loop actually looks like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6766560" cy="356616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5240">
            <a:solidFill>
              <a:srgbClr val="23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4712" y="2322576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322576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2322576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22677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2"/>
                </a:solidFill>
                <a:latin typeface="Consolas"/>
              </a:rPr>
              <a:t>recursive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06624"/>
            <a:ext cx="612648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400">
                <a:solidFill>
                  <a:srgbClr val="6FB7F0"/>
                </a:solidFill>
                <a:latin typeface="Consolas"/>
              </a:rPr>
              <a:t>Vault.withdraw()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F0A500"/>
                </a:solidFill>
                <a:latin typeface="Consolas"/>
              </a:rPr>
              <a:t>  └ sends 1 ETH ───────►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FF707C"/>
                </a:solidFill>
                <a:latin typeface="Consolas"/>
              </a:rPr>
              <a:t>    Attacker.receive()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B9C4D6"/>
                </a:solidFill>
                <a:latin typeface="Consolas"/>
              </a:rPr>
              <a:t>      └ calls ─────────►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6FB7F0"/>
                </a:solidFill>
                <a:latin typeface="Consolas"/>
              </a:rPr>
              <a:t>        Vault.withdraw()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F0A500"/>
                </a:solidFill>
                <a:latin typeface="Consolas"/>
              </a:rPr>
              <a:t>          └ sends 1 ETH ►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FF707C"/>
                </a:solidFill>
                <a:latin typeface="Consolas"/>
              </a:rPr>
              <a:t>            Attacker.receive()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B9C4D6"/>
                </a:solidFill>
                <a:latin typeface="Consolas"/>
              </a:rPr>
              <a:t>              └ calls ►</a:t>
            </a:r>
          </a:p>
          <a:p>
            <a:pPr>
              <a:lnSpc>
                <a:spcPct val="116000"/>
              </a:lnSpc>
            </a:pPr>
            <a:r>
              <a:rPr sz="1400">
                <a:solidFill>
                  <a:srgbClr val="9AA3B2"/>
                </a:solidFill>
                <a:latin typeface="Consolas"/>
              </a:rPr>
              <a:t>                ... (until vault =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103120"/>
            <a:ext cx="3383280" cy="3566160"/>
          </a:xfrm>
          <a:prstGeom prst="roundRect">
            <a:avLst>
              <a:gd name="adj" fmla="val 5000"/>
            </a:avLst>
          </a:prstGeom>
          <a:solidFill>
            <a:srgbClr val="FDEFF0"/>
          </a:solidFill>
          <a:ln w="1905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23317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2B3A"/>
                </a:solidFill>
                <a:latin typeface="Segoe UI Emoji"/>
              </a:rPr>
              <a:t>🛑  Why it won't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92608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6213E"/>
                </a:solidFill>
                <a:latin typeface="Segoe UI"/>
              </a:rPr>
              <a:t>•  balance = 0 runs only at the END of withdraw()
•  the loop re-enters BEFORE that line is reached
•  so require(bal &gt; 0) keeps passing
</a:t>
            </a:r>
            <a:r>
              <a:rPr sz="1400" b="1" i="0">
                <a:solidFill>
                  <a:srgbClr val="E02B3A"/>
                </a:solidFill>
                <a:latin typeface="Segoe UI Emoji"/>
              </a:rPr>
              <a:t>•  it ends only when the vault is empty 🫙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🐞  THE EVIDENCE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VULNERABLE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🐞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Exhibit A — the vulnerable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6400800" cy="361188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5240">
            <a:solidFill>
              <a:srgbClr val="23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4712" y="2276856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276856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2276856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22219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2"/>
                </a:solidFill>
                <a:latin typeface="Consolas"/>
              </a:rPr>
              <a:t>VulnerableVault.sol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60904"/>
            <a:ext cx="5760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mapping(address =&gt; uint) public balances;</a:t>
            </a:r>
          </a:p>
          <a:p>
            <a:pPr>
              <a:lnSpc>
                <a:spcPct val="116000"/>
              </a:lnSpc>
            </a:pPr>
            <a:endParaRPr sz="130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6ECF5"/>
                </a:solidFill>
                <a:latin typeface="Consolas"/>
              </a:rPr>
              <a:t>function withdraw() external {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uint bal = balances[msg.sender];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require(bal &gt; 0, "no balance");</a:t>
            </a:r>
          </a:p>
          <a:p>
            <a:pPr>
              <a:lnSpc>
                <a:spcPct val="116000"/>
              </a:lnSpc>
            </a:pPr>
            <a:endParaRPr sz="130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FF707C"/>
                </a:solidFill>
                <a:latin typeface="Consolas"/>
              </a:rPr>
              <a:t>  (bool ok, ) =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FF707C"/>
                </a:solidFill>
                <a:latin typeface="Consolas"/>
              </a:rPr>
              <a:t>     msg.sender.call{value: bal}("");  // PAY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require(ok, "transfer failed");</a:t>
            </a:r>
          </a:p>
          <a:p>
            <a:pPr>
              <a:lnSpc>
                <a:spcPct val="116000"/>
              </a:lnSpc>
            </a:pPr>
            <a:endParaRPr sz="130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A6BA"/>
                </a:solidFill>
                <a:latin typeface="Consolas"/>
              </a:rPr>
              <a:t>  balances[msg.sender] = 0;  // EFFECT (too late)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6ECF5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240280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2360" y="2240280"/>
            <a:ext cx="91440" cy="105156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2350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8658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6FC4"/>
                </a:solidFill>
                <a:latin typeface="Consolas"/>
              </a:rPr>
              <a:t>require(bal&gt;0)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7432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CHECK — refuse if the caller has nothing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410712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3410712"/>
            <a:ext cx="91440" cy="105156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35204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570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2B3A"/>
                </a:solidFill>
                <a:latin typeface="Consolas"/>
              </a:rPr>
              <a:t>.call{value:bal}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91363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INTERACTION — sends ETH; receiver's receive() runs 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581144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60" y="4581144"/>
            <a:ext cx="91440" cy="105156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69087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7800"/>
                </a:solidFill>
                <a:latin typeface="Consolas"/>
              </a:rPr>
              <a:t>balances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084064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EFFECT — zeroed TOO LATE, after the ETH already left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😈  THE EVIDENCE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ATTACKER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😈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Exhibit B — the attacker's trap door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6400800" cy="361188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5240">
            <a:solidFill>
              <a:srgbClr val="23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4712" y="2276856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276856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2276856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222199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2"/>
                </a:solidFill>
                <a:latin typeface="Consolas"/>
              </a:rPr>
              <a:t>Attacker.sol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60904"/>
            <a:ext cx="5760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IVault public vault;  uint public stake;</a:t>
            </a:r>
          </a:p>
          <a:p>
            <a:pPr>
              <a:lnSpc>
                <a:spcPct val="116000"/>
              </a:lnSpc>
            </a:pPr>
            <a:endParaRPr sz="130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6ECF5"/>
                </a:solidFill>
                <a:latin typeface="Consolas"/>
              </a:rPr>
              <a:t>function attack() external payable {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stake = msg.value;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vault.deposit{value: msg.value}();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6FB7F0"/>
                </a:solidFill>
                <a:latin typeface="Consolas"/>
              </a:rPr>
              <a:t>  vault.withdraw();   // first domino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6ECF5"/>
                </a:solidFill>
                <a:latin typeface="Consolas"/>
              </a:rPr>
              <a:t>}</a:t>
            </a:r>
          </a:p>
          <a:p>
            <a:pPr>
              <a:lnSpc>
                <a:spcPct val="116000"/>
              </a:lnSpc>
            </a:pPr>
            <a:endParaRPr sz="1300">
              <a:solidFill>
                <a:srgbClr val="E6ECF5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FF707C"/>
                </a:solidFill>
                <a:latin typeface="Consolas"/>
              </a:rPr>
              <a:t>receive() external payable {   // THE TRAP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B9C4D6"/>
                </a:solidFill>
                <a:latin typeface="Consolas"/>
              </a:rPr>
              <a:t>  if (address(vault).balance &gt;= stake)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FF707C"/>
                </a:solidFill>
                <a:latin typeface="Consolas"/>
              </a:rPr>
              <a:t>    vault.withdraw();   // re-enter!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6ECF5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240280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2360" y="2240280"/>
            <a:ext cx="91440" cy="105156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2350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8658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7800"/>
                </a:solidFill>
                <a:latin typeface="Consolas"/>
              </a:rPr>
              <a:t>attack() payable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74320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entry point — receives the 1 ETH we attack with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3410712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3410712"/>
            <a:ext cx="91440" cy="105156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8" y="35204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570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6FC4"/>
                </a:solidFill>
                <a:latin typeface="Consolas"/>
              </a:rPr>
              <a:t>vault.deposit()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91363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gives us a non-zero balance to pass the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4581144"/>
            <a:ext cx="384048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52360" y="4581144"/>
            <a:ext cx="91440" cy="105156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69087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6213E"/>
                </a:solidFill>
                <a:latin typeface="Segoe UI Emoji"/>
              </a:rPr>
              <a:t>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2B3A"/>
                </a:solidFill>
                <a:latin typeface="Consolas"/>
              </a:rPr>
              <a:t>receive()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084064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6174"/>
                </a:solidFill>
                <a:latin typeface="Segoe UI"/>
              </a:rPr>
              <a:t>auto-runs on payment — re-calls withdraw() in a loop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F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💥  ACT 5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BUSINESS &amp; SYSTEM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💥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Business &amp; system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109728" cy="64008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6213E"/>
                </a:solidFill>
                <a:latin typeface="Segoe UI Emoji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488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2B3A"/>
                </a:solidFill>
                <a:latin typeface="Segoe UI Semibold"/>
              </a:rPr>
              <a:t>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Direct, irreversible theft of all contract ETH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8036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2880360"/>
            <a:ext cx="109728" cy="64008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8803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6213E"/>
                </a:solidFill>
                <a:latin typeface="Segoe UI Emoji"/>
              </a:rP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803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B07800"/>
                </a:solidFill>
                <a:latin typeface="Segoe UI Semibold"/>
              </a:rPr>
              <a:t>Contract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Corrupted balances &amp; inconsistent on-chain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1188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3611880"/>
            <a:ext cx="109728" cy="64008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6213E"/>
                </a:solidFill>
                <a:latin typeface="Segoe UI Emoji"/>
              </a:rPr>
              <a:t>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6118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6FC4"/>
                </a:solidFill>
                <a:latin typeface="Segoe UI Semibold"/>
              </a:rP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1188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Recursive calls exhaust gas → DoS, frozen contracts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4340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343400"/>
            <a:ext cx="109728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4343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6213E"/>
                </a:solidFill>
                <a:latin typeface="Segoe UI Emoji"/>
              </a:rP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343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13E"/>
                </a:solidFill>
                <a:latin typeface="Segoe UI Semibold"/>
              </a:rPr>
              <a:t>Trust &amp;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4340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6213E"/>
                </a:solidFill>
                <a:latin typeface="Segoe UI"/>
              </a:rPr>
              <a:t>Users flee; token value drops on security fear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556174"/>
                </a:solidFill>
                <a:latin typeface="Segoe UI Emoji"/>
              </a:rPr>
              <a:t>⚡  CASCADING EFFECTS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669280"/>
            <a:ext cx="30403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669280"/>
            <a:ext cx="30403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13E"/>
                </a:solidFill>
                <a:latin typeface="Segoe UI Emoji"/>
              </a:rPr>
              <a:t>📜 Regulatory scrutiny 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73652" y="56692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73652" y="56692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13E"/>
                </a:solidFill>
                <a:latin typeface="Segoe UI Emoji"/>
              </a:rPr>
              <a:t>🛡️ Insurance costs 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5724" y="56692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35724" y="566928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13E"/>
                </a:solidFill>
                <a:latin typeface="Segoe UI Emoji"/>
              </a:rPr>
              <a:t>🐌 Audit / dev delays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97796" y="5669280"/>
            <a:ext cx="25831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97796" y="5669280"/>
            <a:ext cx="2583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6213E"/>
                </a:solidFill>
                <a:latin typeface="Segoe UI Emoji"/>
              </a:rPr>
              <a:t>💔 Reputation damage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DEF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02B3A"/>
                </a:solidFill>
                <a:latin typeface="Segoe UI Semibold"/>
              </a:rPr>
              <a:t>📰  THIS REALLY HAPPENS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REAL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📰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Wanted: reentrancy (SWC-107)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A repeat offender — $200M+ stolen since 2016.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68880"/>
            <a:ext cx="10424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468880"/>
            <a:ext cx="109728" cy="105156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6213E"/>
                </a:solidFill>
                <a:latin typeface="Segoe UI Emoji"/>
              </a:rPr>
              <a:t>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060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The DAO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0358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2B3A"/>
                </a:solidFill>
                <a:latin typeface="Segoe UI Semibold"/>
              </a:rPr>
              <a:t>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02B3A"/>
                </a:solidFill>
                <a:latin typeface="Segoe UI Black"/>
              </a:rPr>
              <a:t>~$60M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389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~3.6M ETH drained; forced Ethereum's hard fork → ETH vs ETC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657600"/>
            <a:ext cx="10424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657600"/>
            <a:ext cx="109728" cy="105156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65760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6213E"/>
                </a:solidFill>
                <a:latin typeface="Segoe UI Emoji"/>
              </a:rPr>
              <a:t>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947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Curve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245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07800"/>
                </a:solidFill>
                <a:latin typeface="Segoe UI Semibold"/>
              </a:rP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65760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B07800"/>
                </a:solidFill>
                <a:latin typeface="Segoe UI Black"/>
              </a:rPr>
              <a:t>~$70M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4389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Vyper compiler bug reintroduced reentrancy in major DeFi pools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846320"/>
            <a:ext cx="10424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846320"/>
            <a:ext cx="109728" cy="105156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484632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6213E"/>
                </a:solidFill>
                <a:latin typeface="Segoe UI Emoji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83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213E"/>
                </a:solidFill>
                <a:latin typeface="Segoe UI Semibold"/>
              </a:rPr>
              <a:t>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4132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6FC4"/>
                </a:solidFill>
                <a:latin typeface="Segoe UI Semibold"/>
              </a:rPr>
              <a:t>2023+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846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66FC4"/>
                </a:solidFill>
                <a:latin typeface="Segoe UI Black"/>
              </a:rPr>
              <a:t>$200M+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846320"/>
            <a:ext cx="43891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56174"/>
                </a:solidFill>
                <a:latin typeface="Segoe UI"/>
              </a:rPr>
              <a:t>Featured in multiple major hacks — a persistent bug class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7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0F9A5F"/>
                </a:solidFill>
                <a:latin typeface="Segoe UI Semibold"/>
              </a:rPr>
              <a:t>🛡️  ACT 6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RESOLUTION &amp;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🛡️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How to close the door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1️⃣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Checks-Effects-Interactions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03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Update state BEFORE any external call. Free, built-in, the #1 fix.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4028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23774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1089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ReentrancyGuard (mutex)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703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OpenZeppelin nonReentrant locks the function; re-entry reverts.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24028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6213E"/>
                </a:solidFill>
                <a:latin typeface="Segoe UI Emoji"/>
              </a:rP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Pull-over-Push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703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174"/>
                </a:solidFill>
                <a:latin typeface="Segoe UI"/>
              </a:rPr>
              <a:t>Users withdraw in their own tx; one call can't chain into many.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26280"/>
            <a:ext cx="104241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663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0F9A5F"/>
                </a:solidFill>
                <a:latin typeface="Segoe UI Emoji"/>
              </a:rPr>
              <a:t>🚑  IF EXPLOITED — IMMEDIATE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6213E"/>
                </a:solidFill>
                <a:latin typeface="Segoe UI Emoji"/>
              </a:rPr>
              <a:t>Pause ⏸️ → isolate funds 🔒 → audit &amp; patch the order 🛠️ → redeploy ✅.   </a:t>
            </a:r>
            <a:r>
              <a:rPr sz="1500" b="1" i="0">
                <a:solidFill>
                  <a:srgbClr val="0F9A5F"/>
                </a:solidFill>
                <a:latin typeface="Segoe UI Semibold"/>
              </a:rPr>
              <a:t>Best practice: CEI + ReentrancyGuard together, plus an audit.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7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0F9A5F"/>
                </a:solidFill>
                <a:latin typeface="Segoe UI Semibold"/>
              </a:rPr>
              <a:t>✅  THE FIX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SAFEVAULT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✅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The fix — record first, then pay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6766560" cy="361188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5240">
            <a:solidFill>
              <a:srgbClr val="23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4712" y="2276856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2456" y="2276856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2276856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2221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2"/>
                </a:solidFill>
                <a:latin typeface="Consolas"/>
              </a:rPr>
              <a:t>SafeVault.sol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60904"/>
            <a:ext cx="612648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import ".../ReentrancyGuard.sol";</a:t>
            </a:r>
          </a:p>
          <a:p>
            <a:pPr>
              <a:lnSpc>
                <a:spcPct val="116000"/>
              </a:lnSpc>
            </a:pPr>
            <a:endParaRPr sz="125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E6ECF5"/>
                </a:solidFill>
                <a:latin typeface="Consolas"/>
              </a:rPr>
              <a:t>contract SafeVault is ReentrancyGuard {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6BE3A9"/>
                </a:solidFill>
                <a:latin typeface="Consolas"/>
              </a:rPr>
              <a:t>  function withdraw() external nonReentrant {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    uint bal = balances[msg.sender];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    require(bal &gt; 0, "no balance");</a:t>
            </a:r>
          </a:p>
          <a:p>
            <a:pPr>
              <a:lnSpc>
                <a:spcPct val="116000"/>
              </a:lnSpc>
            </a:pPr>
            <a:endParaRPr sz="1250">
              <a:solidFill>
                <a:srgbClr val="B9C4D6"/>
              </a:solidFill>
              <a:latin typeface="Consolas"/>
            </a:endParaRP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6BE3A9"/>
                </a:solidFill>
                <a:latin typeface="Consolas"/>
              </a:rPr>
              <a:t>    balances[msg.sender] = 0;   // EFFECT first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    (bool ok, ) =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       msg.sender.call{value: bal}("");  // PAY last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B9C4D6"/>
                </a:solidFill>
                <a:latin typeface="Consolas"/>
              </a:rPr>
              <a:t>    require(ok, "transfer failed");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E6ECF5"/>
                </a:solidFill>
                <a:latin typeface="Consolas"/>
              </a:rPr>
              <a:t>  }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E6ECF5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24028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242316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0F9A5F"/>
                </a:solidFill>
                <a:latin typeface="Segoe UI Emoji"/>
              </a:rPr>
              <a:t>🔢  1 · CEI ORDER
</a:t>
            </a:r>
            <a:r>
              <a:rPr sz="1300" b="0" i="0">
                <a:solidFill>
                  <a:srgbClr val="556174"/>
                </a:solidFill>
                <a:latin typeface="Segoe UI"/>
              </a:rPr>
              <a:t>balance is 0 on re-entry → require() fails → revert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977639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416052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0F9A5F"/>
                </a:solidFill>
                <a:latin typeface="Segoe UI Emoji"/>
              </a:rPr>
              <a:t>🔐  2 · nonReentrant
</a:t>
            </a:r>
            <a:r>
              <a:rPr sz="1300" b="0" i="0">
                <a:solidFill>
                  <a:srgbClr val="556174"/>
                </a:solidFill>
                <a:latin typeface="Segoe UI"/>
              </a:rPr>
              <a:t>a mutex lock — re-entry reverts the whole tx. Defense in depth.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7F0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0F9A5F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FOUNDRY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9611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6213E"/>
                </a:solidFill>
                <a:latin typeface="Segoe UI Emoji"/>
              </a:rPr>
              <a:t>🧪  </a:t>
            </a:r>
            <a:r>
              <a:rPr sz="3600" b="1" i="0">
                <a:solidFill>
                  <a:srgbClr val="16213E"/>
                </a:solidFill>
                <a:latin typeface="Segoe UI Black"/>
              </a:rPr>
              <a:t>Same attack, two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5074920" cy="2011680"/>
          </a:xfrm>
          <a:prstGeom prst="roundRect">
            <a:avLst>
              <a:gd name="adj" fmla="val 5000"/>
            </a:avLst>
          </a:prstGeom>
          <a:solidFill>
            <a:srgbClr val="FDEFF0"/>
          </a:solidFill>
          <a:ln w="2032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02B3A"/>
                </a:solidFill>
                <a:latin typeface="Segoe UI Emoji"/>
              </a:rPr>
              <a:t>🐞  VulnerableVault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3464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Vault → </a:t>
            </a:r>
            <a:r>
              <a:rPr sz="2300" b="1" i="0">
                <a:solidFill>
                  <a:srgbClr val="E02B3A"/>
                </a:solidFill>
                <a:latin typeface="Segoe UI Black"/>
              </a:rPr>
              <a:t>0 ETH</a:t>
            </a:r>
            <a:r>
              <a:rPr sz="1800" b="0" i="0">
                <a:solidFill>
                  <a:srgbClr val="556174"/>
                </a:solidFill>
                <a:latin typeface="Segoe UI"/>
              </a:rPr>
              <a:t>   Eve → </a:t>
            </a:r>
            <a:r>
              <a:rPr sz="2300" b="1" i="0">
                <a:solidFill>
                  <a:srgbClr val="E02B3A"/>
                </a:solidFill>
                <a:latin typeface="Segoe UI Black"/>
              </a:rPr>
              <a:t>11 ETH
</a:t>
            </a:r>
            <a:r>
              <a:rPr sz="1300" b="0" i="0">
                <a:solidFill>
                  <a:srgbClr val="556174"/>
                </a:solidFill>
                <a:latin typeface="Consolas"/>
              </a:rPr>
              <a:t>testReentrancyDrain ✅ drains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031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ECF7F0"/>
          </a:solidFill>
          <a:ln w="2032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9A5F"/>
                </a:solidFill>
                <a:latin typeface="Segoe UI Emoji"/>
              </a:rPr>
              <a:t>✅  SafeVault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Vault → </a:t>
            </a:r>
            <a:r>
              <a:rPr sz="2300" b="1" i="0">
                <a:solidFill>
                  <a:srgbClr val="0F9A5F"/>
                </a:solidFill>
                <a:latin typeface="Segoe UI Black"/>
              </a:rPr>
              <a:t>10 ETH</a:t>
            </a:r>
            <a:r>
              <a:rPr sz="1800" b="0" i="0">
                <a:solidFill>
                  <a:srgbClr val="556174"/>
                </a:solidFill>
                <a:latin typeface="Segoe UI"/>
              </a:rPr>
              <a:t>   Attack → </a:t>
            </a:r>
            <a:r>
              <a:rPr sz="2100" b="1" i="0">
                <a:solidFill>
                  <a:srgbClr val="0F9A5F"/>
                </a:solidFill>
                <a:latin typeface="Segoe UI Black"/>
              </a:rPr>
              <a:t>REVERTED
</a:t>
            </a:r>
            <a:r>
              <a:rPr sz="1300" b="0" i="0">
                <a:solidFill>
                  <a:srgbClr val="556174"/>
                </a:solidFill>
                <a:latin typeface="Consolas"/>
              </a:rPr>
              <a:t>testSafeVaultBlocksAttack ✅ 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43400"/>
            <a:ext cx="10424160" cy="1463040"/>
          </a:xfrm>
          <a:prstGeom prst="roundRect">
            <a:avLst>
              <a:gd name="adj" fmla="val 4500"/>
            </a:avLst>
          </a:prstGeom>
          <a:solidFill>
            <a:srgbClr val="0E1626"/>
          </a:solidFill>
          <a:ln w="15240">
            <a:solidFill>
              <a:srgbClr val="23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4712" y="4562856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62456" y="4562856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00200" y="4562856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45079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3B2"/>
                </a:solidFill>
                <a:latin typeface="Consolas"/>
              </a:rPr>
              <a:t>run the exploit &amp; 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946904"/>
            <a:ext cx="9784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>
                <a:solidFill>
                  <a:srgbClr val="FF707C"/>
                </a:solidFill>
                <a:latin typeface="Consolas"/>
              </a:rPr>
              <a:t>forge test -vvvv --match-test testReentrancyDrain        # attack drains, full call trace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6BE3A9"/>
                </a:solidFill>
                <a:latin typeface="Consolas"/>
              </a:rPr>
              <a:t>forge test -vvvv --match-test testSafeVaultBlocksAttack  # guard reverts the re-entry</a:t>
            </a:r>
          </a:p>
          <a:p>
            <a:pPr>
              <a:lnSpc>
                <a:spcPct val="116000"/>
              </a:lnSpc>
            </a:pPr>
            <a:r>
              <a:rPr sz="1250">
                <a:solidFill>
                  <a:srgbClr val="9AA3B2"/>
                </a:solidFill>
                <a:latin typeface="Consolas"/>
              </a:rPr>
              <a:t># Anvil = local chain · Forge = tests + trace · Cast = read the vault balance 10 -&gt; 0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7F0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A5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0F9A5F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STEP 1 · SETUP &amp; DEPLOY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820000"/>
            <a:ext cx="1105568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6213E"/>
                </a:solidFill>
                <a:latin typeface="Segoe UI Emoji"/>
              </a:rPr>
              <a:t>🛠️  </a:t>
            </a:r>
            <a:r>
              <a:rPr sz="2400" b="1" i="0">
                <a:solidFill>
                  <a:srgbClr val="16213E"/>
                </a:solidFill>
                <a:latin typeface="Segoe UI Black"/>
              </a:rPr>
              <a:t>Terminal Image to run the Setup Deployment Process in a single script</a:t>
            </a:r>
          </a:p>
        </p:txBody>
      </p:sp>
      <p:pic>
        <p:nvPicPr>
          <p:cNvPr id="6" name="Demo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97" y="1780000"/>
            <a:ext cx="6220500" cy="3900000"/>
          </a:xfrm>
          <a:prstGeom prst="rect">
            <a:avLst/>
          </a:prstGeom>
          <a:ln w="9525">
            <a:solidFill>
              <a:srgbClr val="0F9A5F"/>
            </a:solidFill>
          </a:ln>
          <a:effectLst>
            <a:outerShdw blurRad="80000" dist="300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566928" y="5860000"/>
            <a:ext cx="1105568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>
                <a:solidFill>
                  <a:srgbClr val="4A5568"/>
                </a:solidFill>
                <a:latin typeface="Segoe UI"/>
              </a:rPr>
              <a:t>bash setup.sh → checks Anvil, cleans artifacts, rewrites Attacker.sol, rebuilds, deploys, writes .env.local — Setup Complete ✅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F1F5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1C7293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STEP 2 · FRONTEND LIVE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820000"/>
            <a:ext cx="1105568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6213E"/>
                </a:solidFill>
                <a:latin typeface="Segoe UI Emoji"/>
              </a:rPr>
              <a:t>🌐  </a:t>
            </a:r>
            <a:r>
              <a:rPr sz="2400" b="1" i="0">
                <a:solidFill>
                  <a:srgbClr val="16213E"/>
                </a:solidFill>
                <a:latin typeface="Segoe UI Black"/>
              </a:rPr>
              <a:t>This Image Runs the application in port number 3000 locally for the SafeVault Bank</a:t>
            </a:r>
          </a:p>
        </p:txBody>
      </p:sp>
      <p:pic>
        <p:nvPicPr>
          <p:cNvPr id="6" name="Demo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147" y="1780000"/>
            <a:ext cx="6341400" cy="3900000"/>
          </a:xfrm>
          <a:prstGeom prst="rect">
            <a:avLst/>
          </a:prstGeom>
          <a:ln w="9525">
            <a:solidFill>
              <a:srgbClr val="1C7293"/>
            </a:solidFill>
          </a:ln>
          <a:effectLst>
            <a:outerShdw blurRad="80000" dist="300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566928" y="5860000"/>
            <a:ext cx="1105568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>
                <a:solidFill>
                  <a:srgbClr val="4A5568"/>
                </a:solidFill>
                <a:latin typeface="Segoe UI"/>
              </a:rPr>
              <a:t>npm run dev → Next.js 16.2.6 (Turbopack) ready on http://localhost:3000 · serving the SafeVault Bank dashboard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305" y="196553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BF1E6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761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E2761B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STEP 3 · WALLETS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820000"/>
            <a:ext cx="1105568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6213E"/>
                </a:solidFill>
                <a:latin typeface="Segoe UI Emoji"/>
              </a:rPr>
              <a:t>🦊  </a:t>
            </a:r>
            <a:r>
              <a:rPr sz="2400" b="1" i="0">
                <a:solidFill>
                  <a:srgbClr val="16213E"/>
                </a:solidFill>
                <a:latin typeface="Segoe UI Black"/>
              </a:rPr>
              <a:t>MetaMask Image</a:t>
            </a:r>
          </a:p>
        </p:txBody>
      </p:sp>
      <p:pic>
        <p:nvPicPr>
          <p:cNvPr id="6" name="Demo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897" y="1780000"/>
            <a:ext cx="6399900" cy="3900000"/>
          </a:xfrm>
          <a:prstGeom prst="rect">
            <a:avLst/>
          </a:prstGeom>
          <a:ln w="9525">
            <a:solidFill>
              <a:srgbClr val="E2761B"/>
            </a:solidFill>
          </a:ln>
          <a:effectLst>
            <a:outerShdw blurRad="80000" dist="300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566928" y="5860000"/>
            <a:ext cx="11055680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 dirty="0">
                <a:solidFill>
                  <a:srgbClr val="4A5568"/>
                </a:solidFill>
                <a:latin typeface="Segoe UI"/>
              </a:rPr>
              <a:t>Anvil</a:t>
            </a:r>
            <a:r>
              <a:rPr lang="en-US" sz="1150" b="0" i="1" dirty="0">
                <a:solidFill>
                  <a:srgbClr val="4A5568"/>
                </a:solidFill>
                <a:latin typeface="Segoe UI"/>
              </a:rPr>
              <a:t> based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 test wallets imported into MetaMask — Alice &amp; Bob (depositors) and Eve (the attacker)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8546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BECEC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1434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D14343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STEP 4 · ATTACK SUCCEEDS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820000"/>
            <a:ext cx="1105568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6213E"/>
                </a:solidFill>
                <a:latin typeface="Segoe UI Emoji"/>
              </a:rPr>
              <a:t>🚨  </a:t>
            </a:r>
            <a:r>
              <a:rPr sz="2400" b="1" i="0">
                <a:solidFill>
                  <a:srgbClr val="16213E"/>
                </a:solidFill>
                <a:latin typeface="Segoe UI Black"/>
              </a:rPr>
              <a:t>Above Image is from the VULNERABLE VAULT</a:t>
            </a:r>
          </a:p>
        </p:txBody>
      </p:sp>
      <p:pic>
        <p:nvPicPr>
          <p:cNvPr id="6" name="Demo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097" y="1780000"/>
            <a:ext cx="6493500" cy="3900000"/>
          </a:xfrm>
          <a:prstGeom prst="rect">
            <a:avLst/>
          </a:prstGeom>
          <a:ln w="9525">
            <a:solidFill>
              <a:srgbClr val="D14343"/>
            </a:solidFill>
          </a:ln>
          <a:effectLst>
            <a:outerShdw blurRad="80000" dist="300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566928" y="5860000"/>
            <a:ext cx="11055680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 dirty="0">
                <a:solidFill>
                  <a:srgbClr val="4A5568"/>
                </a:solidFill>
                <a:latin typeface="Segoe UI"/>
              </a:rPr>
              <a:t>Vault DRAINED → 0.000 ETH. Eve walks out with </a:t>
            </a:r>
            <a:r>
              <a:rPr lang="en-US" sz="1150" b="0" i="1" dirty="0">
                <a:solidFill>
                  <a:srgbClr val="4A5568"/>
                </a:solidFill>
                <a:latin typeface="Segoe UI"/>
              </a:rPr>
              <a:t>the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 </a:t>
            </a:r>
            <a:r>
              <a:rPr lang="en-US" sz="1150" b="0" i="1" dirty="0">
                <a:solidFill>
                  <a:srgbClr val="4A5568"/>
                </a:solidFill>
                <a:latin typeface="Segoe UI"/>
              </a:rPr>
              <a:t>vault balance (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ETH</a:t>
            </a:r>
            <a:r>
              <a:rPr lang="en-US" sz="1150" b="0" i="1" dirty="0">
                <a:solidFill>
                  <a:srgbClr val="4A5568"/>
                </a:solidFill>
                <a:latin typeface="Segoe UI"/>
              </a:rPr>
              <a:t>)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 after a single Trigger Attack on the C → I → E vault.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305" y="196553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7F0"/>
              </a:gs>
            </a:gsLst>
            <a:lin ang="174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A5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0F9A5F"/>
                </a:solidFill>
                <a:latin typeface="Segoe UI Semibold"/>
              </a:rPr>
              <a:t>🧪  PROOF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LIVE DEMO — STEP 5 · ATTACK BLOCKED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66928" y="820000"/>
            <a:ext cx="1105568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6213E"/>
                </a:solidFill>
                <a:latin typeface="Segoe UI Emoji"/>
              </a:rPr>
              <a:t>🛡️  </a:t>
            </a:r>
            <a:r>
              <a:rPr sz="2400" b="1" i="0">
                <a:solidFill>
                  <a:srgbClr val="16213E"/>
                </a:solidFill>
                <a:latin typeface="Segoe UI Black"/>
              </a:rPr>
              <a:t>This IMAGE is from the SafeVault (nonReentrant + CEI) Operations</a:t>
            </a:r>
          </a:p>
        </p:txBody>
      </p:sp>
      <p:pic>
        <p:nvPicPr>
          <p:cNvPr id="6" name="Demo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97" y="1780000"/>
            <a:ext cx="6532500" cy="3900000"/>
          </a:xfrm>
          <a:prstGeom prst="rect">
            <a:avLst/>
          </a:prstGeom>
          <a:ln w="9525">
            <a:solidFill>
              <a:srgbClr val="0F9A5F"/>
            </a:solidFill>
          </a:ln>
          <a:effectLst>
            <a:outerShdw blurRad="80000" dist="30000" dir="5400000" algn="t" rotWithShape="0">
              <a:srgbClr val="000000">
                <a:alpha val="22000"/>
              </a:srgbClr>
            </a:outerShdw>
          </a:effectLst>
        </p:spPr>
      </p:pic>
      <p:sp>
        <p:nvSpPr>
          <p:cNvPr id="7" name="Caption"/>
          <p:cNvSpPr txBox="1"/>
          <p:nvPr/>
        </p:nvSpPr>
        <p:spPr>
          <a:xfrm>
            <a:off x="566928" y="5860000"/>
            <a:ext cx="11055680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1" dirty="0">
                <a:solidFill>
                  <a:srgbClr val="4A5568"/>
                </a:solidFill>
                <a:latin typeface="Segoe UI"/>
              </a:rPr>
              <a:t>Same exploit, different outcome → vault stays at 10.000 ETH. </a:t>
            </a:r>
            <a:r>
              <a:rPr sz="1150" b="0" i="1" dirty="0" err="1">
                <a:solidFill>
                  <a:srgbClr val="4A5568"/>
                </a:solidFill>
                <a:latin typeface="Segoe UI"/>
              </a:rPr>
              <a:t>nonReentrant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 + Checks-Effects-Interactions </a:t>
            </a:r>
            <a:r>
              <a:rPr lang="en-US" sz="1150" b="0" i="1" dirty="0">
                <a:solidFill>
                  <a:srgbClr val="4A5568"/>
                </a:solidFill>
                <a:latin typeface="Segoe UI"/>
              </a:rPr>
              <a:t>prevents</a:t>
            </a:r>
            <a:r>
              <a:rPr sz="1150" b="0" i="1" dirty="0">
                <a:solidFill>
                  <a:srgbClr val="4A5568"/>
                </a:solidFill>
                <a:latin typeface="Segoe UI"/>
              </a:rPr>
              <a:t> the re-entry.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3FC"/>
              </a:gs>
            </a:gsLst>
            <a:lin ang="17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166FC4"/>
                </a:solidFill>
                <a:latin typeface="Segoe UI Semibold"/>
              </a:rPr>
              <a:t>👥  REQUIRED</a:t>
            </a:r>
            <a:r>
              <a:rPr sz="1250" b="0" i="0" spc="150">
                <a:solidFill>
                  <a:srgbClr val="9AA3B2"/>
                </a:solidFill>
                <a:latin typeface="Segoe UI Semibold"/>
              </a:rPr>
              <a:t>   ·   TEAM MEMBER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3B2"/>
                </a:solidFill>
                <a:latin typeface="Segoe UI Emoji"/>
              </a:rPr>
              <a:t>🔓 Reentrancy Attack  ·  Group 6  ·  CSL6010 Cyber Security  ·  IIT Jodhpur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474" y="896112"/>
            <a:ext cx="11155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i="0" dirty="0">
                <a:solidFill>
                  <a:srgbClr val="16213E"/>
                </a:solidFill>
                <a:latin typeface="Segoe UI Emoji"/>
              </a:rPr>
              <a:t>👥  </a:t>
            </a:r>
            <a:r>
              <a:rPr b="1" i="0" dirty="0">
                <a:solidFill>
                  <a:srgbClr val="16213E"/>
                </a:solidFill>
                <a:latin typeface="Segoe UI Black"/>
              </a:rPr>
              <a:t>Who did </a:t>
            </a:r>
            <a:r>
              <a:rPr lang="en-US" b="1" dirty="0">
                <a:solidFill>
                  <a:srgbClr val="16213E"/>
                </a:solidFill>
                <a:latin typeface="Segoe UI Black"/>
              </a:rPr>
              <a:t>??: </a:t>
            </a:r>
            <a:r>
              <a:rPr lang="en-US" b="1" i="1" dirty="0">
                <a:solidFill>
                  <a:srgbClr val="16213E"/>
                </a:solidFill>
                <a:latin typeface="Segoe UI Black"/>
              </a:rPr>
              <a:t>Success was driven by the complete dedication of every team member</a:t>
            </a:r>
            <a:endParaRPr b="1" i="0" dirty="0">
              <a:solidFill>
                <a:srgbClr val="16213E"/>
              </a:solidFill>
              <a:latin typeface="Segoe UI Black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10424160" cy="457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148839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00">
                <a:solidFill>
                  <a:srgbClr val="9FD2F5"/>
                </a:solidFill>
                <a:latin typeface="Segoe UI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4883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00">
                <a:solidFill>
                  <a:srgbClr val="9FD2F5"/>
                </a:solidFill>
                <a:latin typeface="Segoe UI"/>
              </a:rPr>
              <a:t>ROLL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3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00">
                <a:solidFill>
                  <a:srgbClr val="9FD2F5"/>
                </a:solidFill>
                <a:latin typeface="Segoe UI"/>
              </a:rPr>
              <a:t>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60320"/>
            <a:ext cx="10424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ohit_Pa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615184"/>
            <a:ext cx="402336" cy="402336"/>
          </a:xfrm>
          <a:prstGeom prst="ellipse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87552" y="2615184"/>
            <a:ext cx="402336" cy="402336"/>
          </a:xfrm>
          <a:prstGeom prst="ellipse">
            <a:avLst/>
          </a:prstGeom>
          <a:noFill/>
          <a:ln w="3048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Rohit Patel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60320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G25AIT2089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12477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dirty="0">
                <a:solidFill>
                  <a:srgbClr val="556174"/>
                </a:solidFill>
                <a:latin typeface="Segoe UI"/>
              </a:rPr>
              <a:t>A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ttack 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D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esign · Foundry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072384"/>
            <a:ext cx="10424160" cy="512064"/>
          </a:xfrm>
          <a:prstGeom prst="rect">
            <a:avLst/>
          </a:prstGeom>
          <a:solidFill>
            <a:srgbClr val="F4F7FB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harvan_Vitta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127248"/>
            <a:ext cx="402336" cy="402336"/>
          </a:xfrm>
          <a:prstGeom prst="ellipse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987552" y="3127248"/>
            <a:ext cx="402336" cy="402336"/>
          </a:xfrm>
          <a:prstGeom prst="ellipse">
            <a:avLst/>
          </a:prstGeom>
          <a:noFill/>
          <a:ln w="3048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3072384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Sharvan Vittala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72384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G25AIT2099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24541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556174"/>
                </a:solidFill>
                <a:latin typeface="Segoe UI"/>
              </a:rPr>
              <a:t>Vulnerable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 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Vault contract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 . Demo Video Recording (Part - I)</a:t>
            </a:r>
            <a:endParaRPr sz="1350" b="0" i="0" dirty="0">
              <a:solidFill>
                <a:srgbClr val="556174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3584448"/>
            <a:ext cx="10424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udeb_Gho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639312"/>
            <a:ext cx="402336" cy="402336"/>
          </a:xfrm>
          <a:prstGeom prst="ellipse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987552" y="3639312"/>
            <a:ext cx="402336" cy="402336"/>
          </a:xfrm>
          <a:prstGeom prst="ellipse">
            <a:avLst/>
          </a:prstGeom>
          <a:noFill/>
          <a:ln w="304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3584448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Sudeb Ghosh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584448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G25AIT2113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36605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556174"/>
                </a:solidFill>
                <a:latin typeface="Segoe UI"/>
              </a:rPr>
              <a:t>Attacker + fallback exploit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 . Slides</a:t>
            </a:r>
            <a:endParaRPr sz="1350" b="0" i="0" dirty="0">
              <a:solidFill>
                <a:srgbClr val="556174"/>
              </a:solidFill>
              <a:latin typeface="Segoe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68680" y="4096512"/>
            <a:ext cx="10424160" cy="512064"/>
          </a:xfrm>
          <a:prstGeom prst="rect">
            <a:avLst/>
          </a:prstGeom>
          <a:solidFill>
            <a:srgbClr val="F4F7FB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Kosuru_Yuvaraj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151376"/>
            <a:ext cx="402336" cy="402336"/>
          </a:xfrm>
          <a:prstGeom prst="ellipse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987552" y="4151376"/>
            <a:ext cx="402336" cy="402336"/>
          </a:xfrm>
          <a:prstGeom prst="ellipse">
            <a:avLst/>
          </a:prstGeom>
          <a:noFill/>
          <a:ln w="3048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4480" y="4096512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Kosuru Yuvaraj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09651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G25AIT2054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48669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556174"/>
                </a:solidFill>
                <a:latin typeface="Segoe UI"/>
              </a:rPr>
              <a:t>Fixed contract (CEI + Reentrancy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 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Guard)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 . Solution/Fix</a:t>
            </a:r>
            <a:endParaRPr sz="1350" b="0" i="0" dirty="0">
              <a:solidFill>
                <a:srgbClr val="556174"/>
              </a:solidFill>
              <a:latin typeface="Segoe U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68680" y="4608576"/>
            <a:ext cx="10424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Pujan_Chakrabort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4663440"/>
            <a:ext cx="402336" cy="402336"/>
          </a:xfrm>
          <a:prstGeom prst="ellipse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987552" y="4663440"/>
            <a:ext cx="402336" cy="402336"/>
          </a:xfrm>
          <a:prstGeom prst="ellipse">
            <a:avLst/>
          </a:prstGeom>
          <a:noFill/>
          <a:ln w="3048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54480" y="4608576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Pujan Chakraborty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608576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G25AIT2076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760733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Safe Vault . 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Forge tests + call traces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 . 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Documentation(s)</a:t>
            </a:r>
            <a:endParaRPr sz="1350" b="0" i="0" dirty="0">
              <a:solidFill>
                <a:srgbClr val="556174"/>
              </a:solidFill>
              <a:latin typeface="Segoe U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68680" y="5120640"/>
            <a:ext cx="10424160" cy="512064"/>
          </a:xfrm>
          <a:prstGeom prst="rect">
            <a:avLst/>
          </a:prstGeom>
          <a:solidFill>
            <a:srgbClr val="F4F7FB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Amit_Sing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5175504"/>
            <a:ext cx="402336" cy="402336"/>
          </a:xfrm>
          <a:prstGeom prst="ellipse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987552" y="5175504"/>
            <a:ext cx="402336" cy="402336"/>
          </a:xfrm>
          <a:prstGeom prst="ellipse">
            <a:avLst/>
          </a:prstGeom>
          <a:noFill/>
          <a:ln w="3048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54480" y="5120640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Amit Singh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120640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20640"/>
            <a:ext cx="47548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 dirty="0">
                <a:solidFill>
                  <a:srgbClr val="556174"/>
                </a:solidFill>
                <a:latin typeface="Segoe UI"/>
              </a:rPr>
              <a:t>Research · DAO / Curve case studies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632704"/>
            <a:ext cx="1042416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Vishnu_Priy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" y="5687568"/>
            <a:ext cx="402336" cy="402336"/>
          </a:xfrm>
          <a:prstGeom prst="ellipse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987552" y="5687568"/>
            <a:ext cx="402336" cy="402336"/>
          </a:xfrm>
          <a:prstGeom prst="ellipse">
            <a:avLst/>
          </a:prstGeom>
          <a:noFill/>
          <a:ln w="304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554480" y="5632704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13E"/>
                </a:solidFill>
                <a:latin typeface="Segoe UI Semibold"/>
              </a:rPr>
              <a:t>Vishnu Priya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5632704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6FC4"/>
                </a:solidFill>
                <a:latin typeface="Consolas"/>
              </a:rPr>
              <a:t>G25AIT2128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784861"/>
            <a:ext cx="475488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Frontend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 + 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D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emo 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V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ideo </a:t>
            </a:r>
            <a:r>
              <a:rPr lang="en-US" sz="1350" dirty="0">
                <a:solidFill>
                  <a:srgbClr val="556174"/>
                </a:solidFill>
                <a:latin typeface="Segoe UI"/>
              </a:rPr>
              <a:t>R</a:t>
            </a:r>
            <a:r>
              <a:rPr sz="1350" b="0" i="0" dirty="0">
                <a:solidFill>
                  <a:srgbClr val="556174"/>
                </a:solidFill>
                <a:latin typeface="Segoe UI"/>
              </a:rPr>
              <a:t>ecording</a:t>
            </a:r>
            <a:r>
              <a:rPr lang="en-US" sz="1350" b="0" i="0" dirty="0">
                <a:solidFill>
                  <a:srgbClr val="556174"/>
                </a:solidFill>
                <a:latin typeface="Segoe UI"/>
              </a:rPr>
              <a:t> (Part-II)</a:t>
            </a:r>
            <a:endParaRPr sz="1350" b="0" i="0" dirty="0">
              <a:solidFill>
                <a:srgbClr val="556174"/>
              </a:solidFill>
              <a:latin typeface="Segoe UI"/>
            </a:endParaRPr>
          </a:p>
        </p:txBody>
      </p:sp>
    </p:spTree>
  </p:cSld>
  <p:clrMapOvr>
    <a:masterClrMapping/>
  </p:clrMapOvr>
  <p:transition spd="med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67327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CF1F9"/>
              </a:gs>
            </a:gsLst>
            <a:lin ang="183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00">
                <a:solidFill>
                  <a:srgbClr val="B07800"/>
                </a:solidFill>
                <a:latin typeface="Segoe UI Emoji"/>
              </a:rPr>
              <a:t>🎯  ONE-LINE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6213E"/>
                </a:solidFill>
                <a:latin typeface="Segoe UI Black"/>
              </a:rPr>
              <a:t>Update your state </a:t>
            </a:r>
            <a:r>
              <a:rPr sz="3800" b="0" i="0">
                <a:solidFill>
                  <a:srgbClr val="E02B3A"/>
                </a:solidFill>
                <a:latin typeface="Segoe UI Black"/>
              </a:rPr>
              <a:t>before</a:t>
            </a:r>
            <a:r>
              <a:rPr sz="3800" b="0" i="0">
                <a:solidFill>
                  <a:srgbClr val="16213E"/>
                </a:solidFill>
                <a:latin typeface="Segoe UI Black"/>
              </a:rPr>
              <a:t> you talk to the outside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17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56174"/>
                </a:solidFill>
                <a:latin typeface="Segoe UI"/>
              </a:rPr>
              <a:t>Reentrancy is a </a:t>
            </a:r>
            <a:r>
              <a:rPr sz="1800" b="1" i="0">
                <a:solidFill>
                  <a:srgbClr val="16213E"/>
                </a:solidFill>
                <a:latin typeface="Segoe UI"/>
              </a:rPr>
              <a:t>logic bug, not a math bug.  </a:t>
            </a:r>
            <a:r>
              <a:rPr sz="1800" b="0" i="0">
                <a:solidFill>
                  <a:srgbClr val="556174"/>
                </a:solidFill>
                <a:latin typeface="Segoe UI Emoji"/>
              </a:rPr>
              <a:t>CEI (state first) + ReentrancyGuard (a lock) closes the door. 🔒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749039"/>
            <a:ext cx="548640" cy="4572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6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4023360"/>
            <a:ext cx="91440" cy="914400"/>
          </a:xfrm>
          <a:prstGeom prst="rect">
            <a:avLst/>
          </a:prstGeom>
          <a:solidFill>
            <a:srgbClr val="16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4133087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50">
                <a:solidFill>
                  <a:srgbClr val="16213E"/>
                </a:solidFill>
                <a:latin typeface="Segoe UI Emoji"/>
              </a:rPr>
              <a:t>🎯  </a:t>
            </a:r>
            <a:r>
              <a:rPr sz="1300" b="1" i="0" spc="50">
                <a:solidFill>
                  <a:srgbClr val="166FC4"/>
                </a:solidFill>
                <a:latin typeface="Segoe UI Semibold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9884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13E"/>
                </a:solidFill>
                <a:latin typeface="Segoe UI"/>
              </a:rPr>
              <a:t>pay-before-record 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023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0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4023360"/>
            <a:ext cx="91440" cy="914400"/>
          </a:xfrm>
          <a:prstGeom prst="rect">
            <a:avLst/>
          </a:prstGeom>
          <a:solidFill>
            <a:srgbClr val="E0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1" y="4133087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50">
                <a:solidFill>
                  <a:srgbClr val="16213E"/>
                </a:solidFill>
                <a:latin typeface="Segoe UI Emoji"/>
              </a:rPr>
              <a:t>🪤  </a:t>
            </a:r>
            <a:r>
              <a:rPr sz="1300" b="1" i="0" spc="50">
                <a:solidFill>
                  <a:srgbClr val="E02B3A"/>
                </a:solidFill>
                <a:latin typeface="Segoe UI Semibold"/>
              </a:rPr>
              <a:t>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449884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13E"/>
                </a:solidFill>
                <a:latin typeface="Segoe UI"/>
              </a:rPr>
              <a:t>re-enter the same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0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4023360"/>
            <a:ext cx="91440" cy="914400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4133087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50">
                <a:solidFill>
                  <a:srgbClr val="16213E"/>
                </a:solidFill>
                <a:latin typeface="Segoe UI Emoji"/>
              </a:rPr>
              <a:t>💥  </a:t>
            </a:r>
            <a:r>
              <a:rPr sz="1300" b="1" i="0" spc="50">
                <a:solidFill>
                  <a:srgbClr val="B07800"/>
                </a:solidFill>
                <a:latin typeface="Segoe UI Semibold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49884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13E"/>
                </a:solidFill>
                <a:latin typeface="Segoe UI"/>
              </a:rPr>
              <a:t>DAO · Curve · ongoing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02336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F9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4023360"/>
            <a:ext cx="91440" cy="914400"/>
          </a:xfrm>
          <a:prstGeom prst="rect">
            <a:avLst/>
          </a:prstGeom>
          <a:solidFill>
            <a:srgbClr val="0F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4133087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spc="50">
                <a:solidFill>
                  <a:srgbClr val="16213E"/>
                </a:solidFill>
                <a:latin typeface="Segoe UI Emoji"/>
              </a:rPr>
              <a:t>🛡️  </a:t>
            </a:r>
            <a:r>
              <a:rPr sz="1300" b="1" i="0" spc="50">
                <a:solidFill>
                  <a:srgbClr val="0F9A5F"/>
                </a:solidFill>
                <a:latin typeface="Segoe UI Semibold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449884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13E"/>
                </a:solidFill>
                <a:latin typeface="Segoe UI"/>
              </a:rPr>
              <a:t>CEI + nonReentrant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303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13E"/>
                </a:solidFill>
                <a:latin typeface="Segoe UI Emoji"/>
              </a:rPr>
              <a:t>👥  GROUP 6  </a:t>
            </a:r>
            <a:r>
              <a:rPr sz="1300" b="0" i="0">
                <a:solidFill>
                  <a:srgbClr val="556174"/>
                </a:solidFill>
                <a:latin typeface="Segoe UI"/>
              </a:rPr>
              <a:t>Rohit · Sharvan · Sudeb · Yuvaraj · Pujan · Amit · Vishnu Priya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669280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dirty="0">
                <a:solidFill>
                  <a:srgbClr val="B07800"/>
                </a:solidFill>
                <a:latin typeface="Segoe UI Emoji"/>
              </a:rPr>
              <a:t>💻  CODE </a:t>
            </a:r>
            <a:r>
              <a:rPr lang="en-SG" sz="1250" b="1" dirty="0">
                <a:solidFill>
                  <a:srgbClr val="B07800"/>
                </a:solidFill>
                <a:latin typeface="Segoe UI Emoji"/>
                <a:hlinkClick r:id="rId2"/>
              </a:rPr>
              <a:t>https://github.com/rpaut03l/ts_02_safevault-reentrancy-demo</a:t>
            </a:r>
            <a:r>
              <a:rPr lang="en-SG" sz="1250" b="1" dirty="0">
                <a:solidFill>
                  <a:srgbClr val="B07800"/>
                </a:solidFill>
                <a:latin typeface="Segoe UI Emoji"/>
              </a:rPr>
              <a:t> </a:t>
            </a:r>
            <a:r>
              <a:rPr sz="1250" b="1" i="0" dirty="0">
                <a:solidFill>
                  <a:srgbClr val="B07800"/>
                </a:solidFill>
                <a:latin typeface="Segoe UI Emoji"/>
              </a:rPr>
              <a:t>📚 REF  </a:t>
            </a:r>
            <a:r>
              <a:rPr sz="1250" b="0" i="0" dirty="0">
                <a:solidFill>
                  <a:srgbClr val="556174"/>
                </a:solidFill>
                <a:latin typeface="Segoe UI"/>
              </a:rPr>
              <a:t>SWC-107 · </a:t>
            </a:r>
            <a:r>
              <a:rPr sz="1250" b="0" i="0" dirty="0" err="1">
                <a:solidFill>
                  <a:srgbClr val="556174"/>
                </a:solidFill>
                <a:latin typeface="Segoe UI"/>
              </a:rPr>
              <a:t>OpenZeppelin</a:t>
            </a:r>
            <a:endParaRPr sz="1250" b="0" i="0" dirty="0">
              <a:solidFill>
                <a:srgbClr val="556174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B07800"/>
                </a:solidFill>
                <a:latin typeface="Segoe UI Emoji"/>
              </a:rPr>
              <a:t>🙏  Thank you — Questions?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2774</Words>
  <Application>Microsoft Macintosh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Consolas</vt:lpstr>
      <vt:lpstr>Segoe UI</vt:lpstr>
      <vt:lpstr>Segoe UI Black</vt:lpstr>
      <vt:lpstr>Segoe UI Emoji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patel</cp:lastModifiedBy>
  <cp:revision>9</cp:revision>
  <dcterms:created xsi:type="dcterms:W3CDTF">2013-01-27T09:14:16Z</dcterms:created>
  <dcterms:modified xsi:type="dcterms:W3CDTF">2026-06-03T18:19:39Z</dcterms:modified>
  <cp:category/>
</cp:coreProperties>
</file>